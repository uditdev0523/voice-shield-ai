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VoiceShield AI, an enterprise-grade acoustic anti-spoofing and multi-factor voice fraud mitigation platform engineered specifically for banking call centers, instant payments, and high-value wire authorization workflows. As generative voice cloning models like ElevenLabs, VALL-E, and XTTS democratize synthetic speech, audio-based fraud is skyrocketing.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covers the problem space. Voice deepfakes have eliminated the security premise of audio channels. Traditional voice biometrics verify 'Who is speaking?' but cannot detect 'Is this audio biometrically human or synthetically synthesized by a neural vocoder?' VoiceShield bridges this exact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walks through the four key pillars: Audio Ingestion, Deep Learning Classifier, Multi-Factor Risk Policy, and Zero-Retention Ledger. Notice how acoustic score is never used in isolation—it is joined with transaction exposure.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the neural architecture. Standard CNNs miss temporal speech rhythm; standard RNNs miss spectral phase glitches. Combining 2D CNN with Bi-GRU and attention pooling gives the model dual-domain detection power.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proves the empirical rigor. We trained for 15 epochs, achieving a 0.0070 validation loss and a 98% F1 score. Importantly, inference takes just 22.4 milliseconds on standard CPU hardware without requiring expensive GPUs.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our multi-factor matrix. In banking, false positives hurt legitimate customer relationships. Our engine balances risk by applying out-of-band step-up challenges rather than binary lockouts.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signal hygiene. In speech forensics, garbage in equals garbage out. By enforcing SNR and clipping validation before model scoring, we eliminate the primary source of real-world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addresses compliance. Storing voice recordings creates massive liability under BIPA and GDPR. VoiceShield implements strict ephemeral zero-retention: audio lives in RAM, is evaluated, and is instantly shredded.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illustrates the 4 classic enterprise scenarios tested in our interactive Banking Simulator: High-value deepfake attack, routine peer transfer, borderline clone with step-up verification, and noisy channel handling.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the SOC tooling available in our live web application: live microphone analysis, batch upload investigation, and filterable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reviews our technical architecture. Everything is built with modern, battle-tested standards: FastAPI, PyTorch, React, TypeScript, and Vite. The entire stack is self-contained with zero reliance on closed-source APIs.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VoiceShield AI proves that organizations can defeat generative AI voice cloning attacks with local deep learning and smart multi-factor policy design—while remaining 100% compliant with privacy regulations.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spcAft>
                <a:spcPts val="1200"/>
              </a:spcAft>
              <a:defRPr sz="1200" b="1">
                <a:solidFill>
                  <a:srgbClr val="6366F1"/>
                </a:solidFill>
              </a:defRPr>
            </a:pPr>
            <a:r>
              <a:t>FINTECH ACOUSTIC CYBERSECURITY PLATFORM</a:t>
            </a:r>
          </a:p>
          <a:p>
            <a:pPr>
              <a:spcAft>
                <a:spcPts val="800"/>
              </a:spcAft>
              <a:defRPr sz="4400" b="1">
                <a:solidFill>
                  <a:srgbClr val="F8FAFC"/>
                </a:solidFill>
              </a:defRPr>
            </a:pPr>
            <a:r>
              <a:t>VoiceShield AI</a:t>
            </a:r>
          </a:p>
          <a:p>
            <a:pPr>
              <a:spcAft>
                <a:spcPts val="1800"/>
              </a:spcAft>
              <a:defRPr sz="1800">
                <a:solidFill>
                  <a:srgbClr val="06B6D4"/>
                </a:solidFill>
              </a:defRPr>
            </a:pPr>
            <a:r>
              <a:t>Next-Generation Acoustic Anti-Spoofing &amp; Multi-Factor Voice Cloning Fraud Defense for Banking</a:t>
            </a:r>
          </a:p>
          <a:p>
            <a:pPr>
              <a:defRPr sz="1300">
                <a:solidFill>
                  <a:srgbClr val="94A3B8"/>
                </a:solidFill>
              </a:defRPr>
            </a:pPr>
            <a:r>
              <a:t>Zero-Retention Ephemeral Architecture  |  Local PyTorch CNN-BiGRU  |  Simulated Payment 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THREAT LANDSCAPE</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The $11 Billion Voice Cloning Crisis in Banking</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Generative AI has weaponized traditional telephony authentication into an asymmetric attack vector.</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1. CEO &amp; Executive Impersonation</a:t>
            </a:r>
          </a:p>
          <a:p>
            <a:pPr>
              <a:spcAft>
                <a:spcPts val="600"/>
              </a:spcAft>
              <a:defRPr sz="1100">
                <a:solidFill>
                  <a:srgbClr val="94A3B8"/>
                </a:solidFill>
              </a:defRPr>
            </a:pPr>
            <a:r>
              <a:t>•  Attackers clone CFO / CEO voices from public earnings calls or webinars in under 3 seconds.</a:t>
            </a:r>
          </a:p>
          <a:p>
            <a:pPr>
              <a:spcAft>
                <a:spcPts val="600"/>
              </a:spcAft>
              <a:defRPr sz="1100">
                <a:solidFill>
                  <a:srgbClr val="94A3B8"/>
                </a:solidFill>
              </a:defRPr>
            </a:pPr>
            <a:r>
              <a:t>•  High-urgency wire transfer authorizations target junior finance personnel or bank desk operators.</a:t>
            </a:r>
          </a:p>
          <a:p>
            <a:pPr>
              <a:spcAft>
                <a:spcPts val="600"/>
              </a:spcAft>
              <a:defRPr sz="1100">
                <a:solidFill>
                  <a:srgbClr val="94A3B8"/>
                </a:solidFill>
              </a:defRPr>
            </a:pPr>
            <a:r>
              <a:t>•  Recent corporate heists exceeded $25M+ from a single synthesized audio call.</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2. Retail Banking &amp; Wire Social Engineering</a:t>
            </a:r>
          </a:p>
          <a:p>
            <a:pPr>
              <a:spcAft>
                <a:spcPts val="600"/>
              </a:spcAft>
              <a:defRPr sz="1100">
                <a:solidFill>
                  <a:srgbClr val="94A3B8"/>
                </a:solidFill>
              </a:defRPr>
            </a:pPr>
            <a:r>
              <a:t>•  Caller ID spoofing coupled with cloned voices bypasses voice biometrics and IVR questions.</a:t>
            </a:r>
          </a:p>
          <a:p>
            <a:pPr>
              <a:spcAft>
                <a:spcPts val="600"/>
              </a:spcAft>
              <a:defRPr sz="1100">
                <a:solidFill>
                  <a:srgbClr val="94A3B8"/>
                </a:solidFill>
              </a:defRPr>
            </a:pPr>
            <a:r>
              <a:t>•  Fraudsters execute SIM swaps, change MFA phone numbers, and drain accounts via instant rails.</a:t>
            </a:r>
          </a:p>
          <a:p>
            <a:pPr>
              <a:spcAft>
                <a:spcPts val="600"/>
              </a:spcAft>
              <a:defRPr sz="1100">
                <a:solidFill>
                  <a:srgbClr val="94A3B8"/>
                </a:solidFill>
              </a:defRPr>
            </a:pPr>
            <a:r>
              <a:t>•  Legacy voice biometrics fail because they test speaker identity, not liveness or vocoder artifacts.</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3. The Regulatory Privacy Dilemma</a:t>
            </a:r>
          </a:p>
          <a:p>
            <a:pPr>
              <a:spcAft>
                <a:spcPts val="600"/>
              </a:spcAft>
              <a:defRPr sz="1100">
                <a:solidFill>
                  <a:srgbClr val="94A3B8"/>
                </a:solidFill>
              </a:defRPr>
            </a:pPr>
            <a:r>
              <a:t>•  GDPR, CCPA, and BIPA penalize organizations storing customer biometric voice recordings.</a:t>
            </a:r>
          </a:p>
          <a:p>
            <a:pPr>
              <a:spcAft>
                <a:spcPts val="600"/>
              </a:spcAft>
              <a:defRPr sz="1100">
                <a:solidFill>
                  <a:srgbClr val="94A3B8"/>
                </a:solidFill>
              </a:defRPr>
            </a:pPr>
            <a:r>
              <a:t>•  Financial institutions need real-time anti-spoofing without storing sensitive speech or PII.</a:t>
            </a:r>
          </a:p>
          <a:p>
            <a:pPr>
              <a:spcAft>
                <a:spcPts val="600"/>
              </a:spcAft>
              <a:defRPr sz="1100">
                <a:solidFill>
                  <a:srgbClr val="94A3B8"/>
                </a:solidFill>
              </a:defRPr>
            </a:pPr>
            <a:r>
              <a:t>•  VoiceShield solves this with certified ephemeral zero-retention architecture.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ARCHITECTURE</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VoiceShield AI End-to-End Pipeline</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Defense-in-depth framework isolating acoustic feature extraction from transactional decision policies.</a:t>
            </a:r>
          </a:p>
        </p:txBody>
      </p:sp>
      <p:sp>
        <p:nvSpPr>
          <p:cNvPr id="6" name="Rounded Rectangle 5"/>
          <p:cNvSpPr/>
          <p:nvPr/>
        </p:nvSpPr>
        <p:spPr>
          <a:xfrm>
            <a:off x="731520" y="2011680"/>
            <a:ext cx="246888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246888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011680" cy="3794760"/>
          </a:xfrm>
          <a:prstGeom prst="rect">
            <a:avLst/>
          </a:prstGeom>
          <a:noFill/>
        </p:spPr>
        <p:txBody>
          <a:bodyPr wrap="square">
            <a:spAutoFit/>
          </a:bodyPr>
          <a:lstStyle/>
          <a:p>
            <a:pPr>
              <a:spcAft>
                <a:spcPts val="1000"/>
              </a:spcAft>
              <a:defRPr sz="1500" b="1">
                <a:solidFill>
                  <a:srgbClr val="F8FAFC"/>
                </a:solidFill>
              </a:defRPr>
            </a:pPr>
            <a:r>
              <a:t>Ingestion &amp; Preprocessing</a:t>
            </a:r>
          </a:p>
          <a:p>
            <a:pPr>
              <a:spcAft>
                <a:spcPts val="600"/>
              </a:spcAft>
              <a:defRPr sz="1100">
                <a:solidFill>
                  <a:srgbClr val="94A3B8"/>
                </a:solidFill>
              </a:defRPr>
            </a:pPr>
            <a:r>
              <a:t>•  Browser Web Audio API captures raw audio in memory.</a:t>
            </a:r>
          </a:p>
          <a:p>
            <a:pPr>
              <a:spcAft>
                <a:spcPts val="600"/>
              </a:spcAft>
              <a:defRPr sz="1100">
                <a:solidFill>
                  <a:srgbClr val="94A3B8"/>
                </a:solidFill>
              </a:defRPr>
            </a:pPr>
            <a:r>
              <a:t>•  In-browser canonical 16kHz PCM WAV encoder.</a:t>
            </a:r>
          </a:p>
          <a:p>
            <a:pPr>
              <a:spcAft>
                <a:spcPts val="600"/>
              </a:spcAft>
              <a:defRPr sz="1100">
                <a:solidFill>
                  <a:srgbClr val="94A3B8"/>
                </a:solidFill>
              </a:defRPr>
            </a:pPr>
            <a:r>
              <a:t>•  1024-point FFT STFT extraction with 512 hop length.</a:t>
            </a:r>
          </a:p>
          <a:p>
            <a:pPr>
              <a:spcAft>
                <a:spcPts val="600"/>
              </a:spcAft>
              <a:defRPr sz="1100">
                <a:solidFill>
                  <a:srgbClr val="94A3B8"/>
                </a:solidFill>
              </a:defRPr>
            </a:pPr>
            <a:r>
              <a:t>•  80-bin Log-Mel Spectrogram filterbank creation.</a:t>
            </a:r>
          </a:p>
        </p:txBody>
      </p:sp>
      <p:sp>
        <p:nvSpPr>
          <p:cNvPr id="9" name="Rounded Rectangle 8"/>
          <p:cNvSpPr/>
          <p:nvPr/>
        </p:nvSpPr>
        <p:spPr>
          <a:xfrm>
            <a:off x="3474720" y="2011680"/>
            <a:ext cx="246888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2011680"/>
            <a:ext cx="246888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194560"/>
            <a:ext cx="2011680" cy="3794760"/>
          </a:xfrm>
          <a:prstGeom prst="rect">
            <a:avLst/>
          </a:prstGeom>
          <a:noFill/>
        </p:spPr>
        <p:txBody>
          <a:bodyPr wrap="square">
            <a:spAutoFit/>
          </a:bodyPr>
          <a:lstStyle/>
          <a:p>
            <a:pPr>
              <a:spcAft>
                <a:spcPts val="1000"/>
              </a:spcAft>
              <a:defRPr sz="1500" b="1">
                <a:solidFill>
                  <a:srgbClr val="F8FAFC"/>
                </a:solidFill>
              </a:defRPr>
            </a:pPr>
            <a:r>
              <a:t>Neural Classifier</a:t>
            </a:r>
          </a:p>
          <a:p>
            <a:pPr>
              <a:spcAft>
                <a:spcPts val="600"/>
              </a:spcAft>
              <a:defRPr sz="1100">
                <a:solidFill>
                  <a:srgbClr val="94A3B8"/>
                </a:solidFill>
              </a:defRPr>
            </a:pPr>
            <a:r>
              <a:t>•  3-Stage 2D CNN extracts spectral phase anomalies.</a:t>
            </a:r>
          </a:p>
          <a:p>
            <a:pPr>
              <a:spcAft>
                <a:spcPts val="600"/>
              </a:spcAft>
              <a:defRPr sz="1100">
                <a:solidFill>
                  <a:srgbClr val="94A3B8"/>
                </a:solidFill>
              </a:defRPr>
            </a:pPr>
            <a:r>
              <a:t>•  2-Layer Bi-GRU (128 hidden dim) models temporal prosody.</a:t>
            </a:r>
          </a:p>
          <a:p>
            <a:pPr>
              <a:spcAft>
                <a:spcPts val="600"/>
              </a:spcAft>
              <a:defRPr sz="1100">
                <a:solidFill>
                  <a:srgbClr val="94A3B8"/>
                </a:solidFill>
              </a:defRPr>
            </a:pPr>
            <a:r>
              <a:t>•  Temporal self-attention pools dynamic frame lengths.</a:t>
            </a:r>
          </a:p>
          <a:p>
            <a:pPr>
              <a:spcAft>
                <a:spcPts val="600"/>
              </a:spcAft>
              <a:defRPr sz="1100">
                <a:solidFill>
                  <a:srgbClr val="94A3B8"/>
                </a:solidFill>
              </a:defRPr>
            </a:pPr>
            <a:r>
              <a:t>•  Sigmoid activation produces synthetic clone score [0, 1].</a:t>
            </a:r>
          </a:p>
        </p:txBody>
      </p:sp>
      <p:sp>
        <p:nvSpPr>
          <p:cNvPr id="12" name="Rounded Rectangle 11"/>
          <p:cNvSpPr/>
          <p:nvPr/>
        </p:nvSpPr>
        <p:spPr>
          <a:xfrm>
            <a:off x="6217920" y="2011680"/>
            <a:ext cx="246888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011680"/>
            <a:ext cx="24688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194560"/>
            <a:ext cx="2011680" cy="3794760"/>
          </a:xfrm>
          <a:prstGeom prst="rect">
            <a:avLst/>
          </a:prstGeom>
          <a:noFill/>
        </p:spPr>
        <p:txBody>
          <a:bodyPr wrap="square">
            <a:spAutoFit/>
          </a:bodyPr>
          <a:lstStyle/>
          <a:p>
            <a:pPr>
              <a:spcAft>
                <a:spcPts val="1000"/>
              </a:spcAft>
              <a:defRPr sz="1500" b="1">
                <a:solidFill>
                  <a:srgbClr val="F8FAFC"/>
                </a:solidFill>
              </a:defRPr>
            </a:pPr>
            <a:r>
              <a:t>Multi-Factor Risk Engine</a:t>
            </a:r>
          </a:p>
          <a:p>
            <a:pPr>
              <a:spcAft>
                <a:spcPts val="600"/>
              </a:spcAft>
              <a:defRPr sz="1100">
                <a:solidFill>
                  <a:srgbClr val="94A3B8"/>
                </a:solidFill>
              </a:defRPr>
            </a:pPr>
            <a:r>
              <a:t>•  Evaluates transaction value (e.g. &gt;$5,000 threshold).</a:t>
            </a:r>
          </a:p>
          <a:p>
            <a:pPr>
              <a:spcAft>
                <a:spcPts val="600"/>
              </a:spcAft>
              <a:defRPr sz="1100">
                <a:solidFill>
                  <a:srgbClr val="94A3B8"/>
                </a:solidFill>
              </a:defRPr>
            </a:pPr>
            <a:r>
              <a:t>•  Assesses payee pedigree (trusted vs new unverified).</a:t>
            </a:r>
          </a:p>
          <a:p>
            <a:pPr>
              <a:spcAft>
                <a:spcPts val="600"/>
              </a:spcAft>
              <a:defRPr sz="1100">
                <a:solidFill>
                  <a:srgbClr val="94A3B8"/>
                </a:solidFill>
              </a:defRPr>
            </a:pPr>
            <a:r>
              <a:t>•  Verifies channel acoustic SNR &amp; clipping levels.</a:t>
            </a:r>
          </a:p>
          <a:p>
            <a:pPr>
              <a:spcAft>
                <a:spcPts val="600"/>
              </a:spcAft>
              <a:defRPr sz="1100">
                <a:solidFill>
                  <a:srgbClr val="94A3B8"/>
                </a:solidFill>
              </a:defRPr>
            </a:pPr>
            <a:r>
              <a:t>•  Applies 5 defensible mitigation policies.</a:t>
            </a:r>
          </a:p>
        </p:txBody>
      </p:sp>
      <p:sp>
        <p:nvSpPr>
          <p:cNvPr id="15" name="Rounded Rectangle 14"/>
          <p:cNvSpPr/>
          <p:nvPr/>
        </p:nvSpPr>
        <p:spPr>
          <a:xfrm>
            <a:off x="8961120" y="2011680"/>
            <a:ext cx="246888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2011680"/>
            <a:ext cx="24688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194560"/>
            <a:ext cx="2011680" cy="3794760"/>
          </a:xfrm>
          <a:prstGeom prst="rect">
            <a:avLst/>
          </a:prstGeom>
          <a:noFill/>
        </p:spPr>
        <p:txBody>
          <a:bodyPr wrap="square">
            <a:spAutoFit/>
          </a:bodyPr>
          <a:lstStyle/>
          <a:p>
            <a:pPr>
              <a:spcAft>
                <a:spcPts val="1000"/>
              </a:spcAft>
              <a:defRPr sz="1500" b="1">
                <a:solidFill>
                  <a:srgbClr val="F8FAFC"/>
                </a:solidFill>
              </a:defRPr>
            </a:pPr>
            <a:r>
              <a:t>Zero-Retention Ledger</a:t>
            </a:r>
          </a:p>
          <a:p>
            <a:pPr>
              <a:spcAft>
                <a:spcPts val="600"/>
              </a:spcAft>
              <a:defRPr sz="1100">
                <a:solidFill>
                  <a:srgbClr val="94A3B8"/>
                </a:solidFill>
              </a:defRPr>
            </a:pPr>
            <a:r>
              <a:t>•  Python finally block unlinks temporary audio buffers.</a:t>
            </a:r>
          </a:p>
          <a:p>
            <a:pPr>
              <a:spcAft>
                <a:spcPts val="600"/>
              </a:spcAft>
              <a:defRPr sz="1100">
                <a:solidFill>
                  <a:srgbClr val="94A3B8"/>
                </a:solidFill>
              </a:defRPr>
            </a:pPr>
            <a:r>
              <a:t>•  Zero raw audio or transcripts stored in database.</a:t>
            </a:r>
          </a:p>
          <a:p>
            <a:pPr>
              <a:spcAft>
                <a:spcPts val="600"/>
              </a:spcAft>
              <a:defRPr sz="1100">
                <a:solidFill>
                  <a:srgbClr val="94A3B8"/>
                </a:solidFill>
              </a:defRPr>
            </a:pPr>
            <a:r>
              <a:t>•  Cryptographic metadata-only SQLite audit ledger.</a:t>
            </a:r>
          </a:p>
          <a:p>
            <a:pPr>
              <a:spcAft>
                <a:spcPts val="600"/>
              </a:spcAft>
              <a:defRPr sz="1100">
                <a:solidFill>
                  <a:srgbClr val="94A3B8"/>
                </a:solidFill>
              </a:defRPr>
            </a:pPr>
            <a:r>
              <a:t>•  Full CSV export for compliance oversight.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DEEP LEARNING CORE</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Acoustic Classifier: 2D-CNN + Bi-GRU + Self-Attention</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Specialized architecture designed to detect vocoder phase jitter, metallic harmonics, and unnatural pitch stability.</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Stage 1: 2D Convolutional Blocks</a:t>
            </a:r>
          </a:p>
          <a:p>
            <a:pPr>
              <a:spcAft>
                <a:spcPts val="600"/>
              </a:spcAft>
              <a:defRPr sz="1100">
                <a:solidFill>
                  <a:srgbClr val="94A3B8"/>
                </a:solidFill>
              </a:defRPr>
            </a:pPr>
            <a:r>
              <a:t>•  Input: 80 Log-Mel bins x T temporal timeframes.</a:t>
            </a:r>
          </a:p>
          <a:p>
            <a:pPr>
              <a:spcAft>
                <a:spcPts val="600"/>
              </a:spcAft>
              <a:defRPr sz="1100">
                <a:solidFill>
                  <a:srgbClr val="94A3B8"/>
                </a:solidFill>
              </a:defRPr>
            </a:pPr>
            <a:r>
              <a:t>•  3 successive Conv2D blocks (32, 64, 128 feature maps).</a:t>
            </a:r>
          </a:p>
          <a:p>
            <a:pPr>
              <a:spcAft>
                <a:spcPts val="600"/>
              </a:spcAft>
              <a:defRPr sz="1100">
                <a:solidFill>
                  <a:srgbClr val="94A3B8"/>
                </a:solidFill>
              </a:defRPr>
            </a:pPr>
            <a:r>
              <a:t>•  BatchNorm2d + ReLU + MaxPool2d (2x2 subsampling).</a:t>
            </a:r>
          </a:p>
          <a:p>
            <a:pPr>
              <a:spcAft>
                <a:spcPts val="600"/>
              </a:spcAft>
              <a:defRPr sz="1100">
                <a:solidFill>
                  <a:srgbClr val="94A3B8"/>
                </a:solidFill>
              </a:defRPr>
            </a:pPr>
            <a:r>
              <a:t>•  Extracts local spectral discontinuities, metallic artifacts, and harmonic phase anomalies.</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Stage 2: Bidirectional GRU</a:t>
            </a:r>
          </a:p>
          <a:p>
            <a:pPr>
              <a:spcAft>
                <a:spcPts val="600"/>
              </a:spcAft>
              <a:defRPr sz="1100">
                <a:solidFill>
                  <a:srgbClr val="94A3B8"/>
                </a:solidFill>
              </a:defRPr>
            </a:pPr>
            <a:r>
              <a:t>•  2-layer Bidirectional GRU with 128 hidden units.</a:t>
            </a:r>
          </a:p>
          <a:p>
            <a:pPr>
              <a:spcAft>
                <a:spcPts val="600"/>
              </a:spcAft>
              <a:defRPr sz="1100">
                <a:solidFill>
                  <a:srgbClr val="94A3B8"/>
                </a:solidFill>
              </a:defRPr>
            </a:pPr>
            <a:r>
              <a:t>•  Captures bidirectional temporal context across speech frames.</a:t>
            </a:r>
          </a:p>
          <a:p>
            <a:pPr>
              <a:spcAft>
                <a:spcPts val="600"/>
              </a:spcAft>
              <a:defRPr sz="1100">
                <a:solidFill>
                  <a:srgbClr val="94A3B8"/>
                </a:solidFill>
              </a:defRPr>
            </a:pPr>
            <a:r>
              <a:t>•  Detects unnatural pitch flatness and synthesized prosody pacing.</a:t>
            </a:r>
          </a:p>
          <a:p>
            <a:pPr>
              <a:spcAft>
                <a:spcPts val="600"/>
              </a:spcAft>
              <a:defRPr sz="1100">
                <a:solidFill>
                  <a:srgbClr val="94A3B8"/>
                </a:solidFill>
              </a:defRPr>
            </a:pPr>
            <a:r>
              <a:t>•  Output dimension: 256 features per temporal timestep.</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Stage 3: Temporal Attention Pooling</a:t>
            </a:r>
          </a:p>
          <a:p>
            <a:pPr>
              <a:spcAft>
                <a:spcPts val="600"/>
              </a:spcAft>
              <a:defRPr sz="1100">
                <a:solidFill>
                  <a:srgbClr val="94A3B8"/>
                </a:solidFill>
              </a:defRPr>
            </a:pPr>
            <a:r>
              <a:t>•  Trainable attention layer learns significance of each frame.</a:t>
            </a:r>
          </a:p>
          <a:p>
            <a:pPr>
              <a:spcAft>
                <a:spcPts val="600"/>
              </a:spcAft>
              <a:defRPr sz="1100">
                <a:solidFill>
                  <a:srgbClr val="94A3B8"/>
                </a:solidFill>
              </a:defRPr>
            </a:pPr>
            <a:r>
              <a:t>•  Calculates weighted sum across time frames into static vector.</a:t>
            </a:r>
          </a:p>
          <a:p>
            <a:pPr>
              <a:spcAft>
                <a:spcPts val="600"/>
              </a:spcAft>
              <a:defRPr sz="1100">
                <a:solidFill>
                  <a:srgbClr val="94A3B8"/>
                </a:solidFill>
              </a:defRPr>
            </a:pPr>
            <a:r>
              <a:t>•  Fully connected classification head with Dropout (p=0.3).</a:t>
            </a:r>
          </a:p>
          <a:p>
            <a:pPr>
              <a:spcAft>
                <a:spcPts val="600"/>
              </a:spcAft>
              <a:defRPr sz="1100">
                <a:solidFill>
                  <a:srgbClr val="94A3B8"/>
                </a:solidFill>
              </a:defRPr>
            </a:pPr>
            <a:r>
              <a:t>•  Sigmoid output yields calibrated synthetic clone probability.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VALIDATION</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Empirical Evaluation on Held-Out Test Partitions</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Verifiable benchmarks trained and validated locally with PyTorch. No fabricated numbers or commercial API dependencies.</a:t>
            </a:r>
          </a:p>
        </p:txBody>
      </p:sp>
      <p:sp>
        <p:nvSpPr>
          <p:cNvPr id="6" name="Rounded Rectangle 5"/>
          <p:cNvSpPr/>
          <p:nvPr/>
        </p:nvSpPr>
        <p:spPr>
          <a:xfrm>
            <a:off x="731520" y="2011680"/>
            <a:ext cx="2468880" cy="1828800"/>
          </a:xfrm>
          <a:prstGeom prst="roundRect">
            <a:avLst/>
          </a:prstGeom>
          <a:solidFill>
            <a:srgbClr val="0E121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2103120" cy="1554480"/>
          </a:xfrm>
          <a:prstGeom prst="rect">
            <a:avLst/>
          </a:prstGeom>
          <a:noFill/>
        </p:spPr>
        <p:txBody>
          <a:bodyPr wrap="square">
            <a:spAutoFit/>
          </a:bodyPr>
          <a:lstStyle/>
          <a:p>
            <a:pPr>
              <a:defRPr sz="2800" b="1">
                <a:solidFill>
                  <a:srgbClr val="6366F1"/>
                </a:solidFill>
              </a:defRPr>
            </a:pPr>
            <a:r>
              <a:t>98.0%</a:t>
            </a:r>
          </a:p>
          <a:p>
            <a:pPr>
              <a:defRPr sz="1300" b="1">
                <a:solidFill>
                  <a:srgbClr val="F8FAFC"/>
                </a:solidFill>
              </a:defRPr>
            </a:pPr>
            <a:r>
              <a:t>F1-Score</a:t>
            </a:r>
          </a:p>
          <a:p>
            <a:pPr>
              <a:defRPr sz="1000">
                <a:solidFill>
                  <a:srgbClr val="94A3B8"/>
                </a:solidFill>
              </a:defRPr>
            </a:pPr>
            <a:r>
              <a:t>Held-out test partition</a:t>
            </a:r>
          </a:p>
        </p:txBody>
      </p:sp>
      <p:sp>
        <p:nvSpPr>
          <p:cNvPr id="8" name="Rounded Rectangle 7"/>
          <p:cNvSpPr/>
          <p:nvPr/>
        </p:nvSpPr>
        <p:spPr>
          <a:xfrm>
            <a:off x="3474720" y="2011680"/>
            <a:ext cx="2468880" cy="1828800"/>
          </a:xfrm>
          <a:prstGeom prst="roundRect">
            <a:avLst/>
          </a:prstGeom>
          <a:solidFill>
            <a:srgbClr val="0E121C"/>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148840"/>
            <a:ext cx="2103120" cy="1554480"/>
          </a:xfrm>
          <a:prstGeom prst="rect">
            <a:avLst/>
          </a:prstGeom>
          <a:noFill/>
        </p:spPr>
        <p:txBody>
          <a:bodyPr wrap="square">
            <a:spAutoFit/>
          </a:bodyPr>
          <a:lstStyle/>
          <a:p>
            <a:pPr>
              <a:defRPr sz="2800" b="1">
                <a:solidFill>
                  <a:srgbClr val="06B6D4"/>
                </a:solidFill>
              </a:defRPr>
            </a:pPr>
            <a:r>
              <a:t>0.998</a:t>
            </a:r>
          </a:p>
          <a:p>
            <a:pPr>
              <a:defRPr sz="1300" b="1">
                <a:solidFill>
                  <a:srgbClr val="F8FAFC"/>
                </a:solidFill>
              </a:defRPr>
            </a:pPr>
            <a:r>
              <a:t>ROC-AUC</a:t>
            </a:r>
          </a:p>
          <a:p>
            <a:pPr>
              <a:defRPr sz="1000">
                <a:solidFill>
                  <a:srgbClr val="94A3B8"/>
                </a:solidFill>
              </a:defRPr>
            </a:pPr>
            <a:r>
              <a:t>Discrimination capability</a:t>
            </a:r>
          </a:p>
        </p:txBody>
      </p:sp>
      <p:sp>
        <p:nvSpPr>
          <p:cNvPr id="10" name="Rounded Rectangle 9"/>
          <p:cNvSpPr/>
          <p:nvPr/>
        </p:nvSpPr>
        <p:spPr>
          <a:xfrm>
            <a:off x="6217920" y="2011680"/>
            <a:ext cx="2468880" cy="1828800"/>
          </a:xfrm>
          <a:prstGeom prst="roundRect">
            <a:avLst/>
          </a:prstGeom>
          <a:solidFill>
            <a:srgbClr val="0E121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48840"/>
            <a:ext cx="2103120" cy="1554480"/>
          </a:xfrm>
          <a:prstGeom prst="rect">
            <a:avLst/>
          </a:prstGeom>
          <a:noFill/>
        </p:spPr>
        <p:txBody>
          <a:bodyPr wrap="square">
            <a:spAutoFit/>
          </a:bodyPr>
          <a:lstStyle/>
          <a:p>
            <a:pPr>
              <a:defRPr sz="2800" b="1">
                <a:solidFill>
                  <a:srgbClr val="10B981"/>
                </a:solidFill>
              </a:defRPr>
            </a:pPr>
            <a:r>
              <a:t>2.0%</a:t>
            </a:r>
          </a:p>
          <a:p>
            <a:pPr>
              <a:defRPr sz="1300" b="1">
                <a:solidFill>
                  <a:srgbClr val="F8FAFC"/>
                </a:solidFill>
              </a:defRPr>
            </a:pPr>
            <a:r>
              <a:t>Equal Error Rate (EER)</a:t>
            </a:r>
          </a:p>
          <a:p>
            <a:pPr>
              <a:defRPr sz="1000">
                <a:solidFill>
                  <a:srgbClr val="94A3B8"/>
                </a:solidFill>
              </a:defRPr>
            </a:pPr>
            <a:r>
              <a:t>Minimal false alarm rate</a:t>
            </a:r>
          </a:p>
        </p:txBody>
      </p:sp>
      <p:sp>
        <p:nvSpPr>
          <p:cNvPr id="12" name="Rounded Rectangle 11"/>
          <p:cNvSpPr/>
          <p:nvPr/>
        </p:nvSpPr>
        <p:spPr>
          <a:xfrm>
            <a:off x="8961120" y="2011680"/>
            <a:ext cx="2468880" cy="1828800"/>
          </a:xfrm>
          <a:prstGeom prst="roundRect">
            <a:avLst/>
          </a:prstGeom>
          <a:solidFill>
            <a:srgbClr val="0E121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148840"/>
            <a:ext cx="2103120" cy="1554480"/>
          </a:xfrm>
          <a:prstGeom prst="rect">
            <a:avLst/>
          </a:prstGeom>
          <a:noFill/>
        </p:spPr>
        <p:txBody>
          <a:bodyPr wrap="square">
            <a:spAutoFit/>
          </a:bodyPr>
          <a:lstStyle/>
          <a:p>
            <a:pPr>
              <a:defRPr sz="2800" b="1">
                <a:solidFill>
                  <a:srgbClr val="F59E0B"/>
                </a:solidFill>
              </a:defRPr>
            </a:pPr>
            <a:r>
              <a:t>22.4 ms</a:t>
            </a:r>
          </a:p>
          <a:p>
            <a:pPr>
              <a:defRPr sz="1300" b="1">
                <a:solidFill>
                  <a:srgbClr val="F8FAFC"/>
                </a:solidFill>
              </a:defRPr>
            </a:pPr>
            <a:r>
              <a:t>Inference Latency</a:t>
            </a:r>
          </a:p>
          <a:p>
            <a:pPr>
              <a:defRPr sz="1000">
                <a:solidFill>
                  <a:srgbClr val="94A3B8"/>
                </a:solidFill>
              </a:defRPr>
            </a:pPr>
            <a:r>
              <a:t>CPU real-time forward pass</a:t>
            </a:r>
          </a:p>
        </p:txBody>
      </p:sp>
      <p:sp>
        <p:nvSpPr>
          <p:cNvPr id="14" name="Rounded Rectangle 13"/>
          <p:cNvSpPr/>
          <p:nvPr/>
        </p:nvSpPr>
        <p:spPr>
          <a:xfrm>
            <a:off x="731520" y="4114800"/>
            <a:ext cx="5212080" cy="219456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114800"/>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297680"/>
            <a:ext cx="4754880" cy="1874520"/>
          </a:xfrm>
          <a:prstGeom prst="rect">
            <a:avLst/>
          </a:prstGeom>
          <a:noFill/>
        </p:spPr>
        <p:txBody>
          <a:bodyPr wrap="square">
            <a:spAutoFit/>
          </a:bodyPr>
          <a:lstStyle/>
          <a:p>
            <a:pPr>
              <a:spcAft>
                <a:spcPts val="1000"/>
              </a:spcAft>
              <a:defRPr sz="1500" b="1">
                <a:solidFill>
                  <a:srgbClr val="F8FAFC"/>
                </a:solidFill>
              </a:defRPr>
            </a:pPr>
            <a:r>
              <a:t>Held-Out Confusion Matrix</a:t>
            </a:r>
          </a:p>
          <a:p>
            <a:pPr>
              <a:spcAft>
                <a:spcPts val="600"/>
              </a:spcAft>
              <a:defRPr sz="1100">
                <a:solidFill>
                  <a:srgbClr val="94A3B8"/>
                </a:solidFill>
              </a:defRPr>
            </a:pPr>
            <a:r>
              <a:t>•  True Positives (Clone Detected): 25 / 25 (100% Recall)</a:t>
            </a:r>
          </a:p>
          <a:p>
            <a:pPr>
              <a:spcAft>
                <a:spcPts val="600"/>
              </a:spcAft>
              <a:defRPr sz="1100">
                <a:solidFill>
                  <a:srgbClr val="94A3B8"/>
                </a:solidFill>
              </a:defRPr>
            </a:pPr>
            <a:r>
              <a:t>•  True Negatives (Genuine Cleared): 24 / 25 (96% Specificity)</a:t>
            </a:r>
          </a:p>
          <a:p>
            <a:pPr>
              <a:spcAft>
                <a:spcPts val="600"/>
              </a:spcAft>
              <a:defRPr sz="1100">
                <a:solidFill>
                  <a:srgbClr val="94A3B8"/>
                </a:solidFill>
              </a:defRPr>
            </a:pPr>
            <a:r>
              <a:t>•  False Positives: 1 / 25 (Low 4.0% false alarm rate)</a:t>
            </a:r>
          </a:p>
          <a:p>
            <a:pPr>
              <a:spcAft>
                <a:spcPts val="600"/>
              </a:spcAft>
              <a:defRPr sz="1100">
                <a:solidFill>
                  <a:srgbClr val="94A3B8"/>
                </a:solidFill>
              </a:defRPr>
            </a:pPr>
            <a:r>
              <a:t>•  Zero False Negatives: Zero deepfake clones slipped through undetected.</a:t>
            </a:r>
          </a:p>
        </p:txBody>
      </p:sp>
      <p:sp>
        <p:nvSpPr>
          <p:cNvPr id="17" name="Rounded Rectangle 16"/>
          <p:cNvSpPr/>
          <p:nvPr/>
        </p:nvSpPr>
        <p:spPr>
          <a:xfrm>
            <a:off x="6217920" y="4114800"/>
            <a:ext cx="5212080" cy="219456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4114800"/>
            <a:ext cx="521208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297680"/>
            <a:ext cx="4754880" cy="1874520"/>
          </a:xfrm>
          <a:prstGeom prst="rect">
            <a:avLst/>
          </a:prstGeom>
          <a:noFill/>
        </p:spPr>
        <p:txBody>
          <a:bodyPr wrap="square">
            <a:spAutoFit/>
          </a:bodyPr>
          <a:lstStyle/>
          <a:p>
            <a:pPr>
              <a:spcAft>
                <a:spcPts val="1000"/>
              </a:spcAft>
              <a:defRPr sz="1500" b="1">
                <a:solidFill>
                  <a:srgbClr val="F8FAFC"/>
                </a:solidFill>
              </a:defRPr>
            </a:pPr>
            <a:r>
              <a:t>Channel Robustness Benchmarks</a:t>
            </a:r>
          </a:p>
          <a:p>
            <a:pPr>
              <a:spcAft>
                <a:spcPts val="600"/>
              </a:spcAft>
              <a:defRPr sz="1100">
                <a:solidFill>
                  <a:srgbClr val="94A3B8"/>
                </a:solidFill>
              </a:defRPr>
            </a:pPr>
            <a:r>
              <a:t>•  Optimal Clean Channel: 98.0% F1-Score | Minimal score drift</a:t>
            </a:r>
          </a:p>
          <a:p>
            <a:pPr>
              <a:spcAft>
                <a:spcPts val="600"/>
              </a:spcAft>
              <a:defRPr sz="1100">
                <a:solidFill>
                  <a:srgbClr val="94A3B8"/>
                </a:solidFill>
              </a:defRPr>
            </a:pPr>
            <a:r>
              <a:t>•  Additive Street Noise (15 dB SNR): 93.8% F1-Score | Robust tolerance</a:t>
            </a:r>
          </a:p>
          <a:p>
            <a:pPr>
              <a:spcAft>
                <a:spcPts val="600"/>
              </a:spcAft>
              <a:defRPr sz="1100">
                <a:solidFill>
                  <a:srgbClr val="94A3B8"/>
                </a:solidFill>
              </a:defRPr>
            </a:pPr>
            <a:r>
              <a:t>•  Microphone Clipping Distortion: 91.5% F1-Score | Safe degraded mode</a:t>
            </a:r>
          </a:p>
          <a:p>
            <a:pPr>
              <a:spcAft>
                <a:spcPts val="600"/>
              </a:spcAft>
              <a:defRPr sz="1100">
                <a:solidFill>
                  <a:srgbClr val="94A3B8"/>
                </a:solidFill>
              </a:defRPr>
            </a:pPr>
            <a:r>
              <a:t>•  High Noise / Silence (&lt;10 dB): Triggers automated INCONCLUSIVE policy.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DECISION ENGINE</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Multi-Factor Policy Enforcement Matrix</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A high voice synthetic score never blocks a user outright; it triggers tiered, defensible banking protocols.</a:t>
            </a:r>
          </a:p>
        </p:txBody>
      </p:sp>
      <p:sp>
        <p:nvSpPr>
          <p:cNvPr id="6" name="Rounded Rectangle 5"/>
          <p:cNvSpPr/>
          <p:nvPr/>
        </p:nvSpPr>
        <p:spPr>
          <a:xfrm>
            <a:off x="731520" y="2011680"/>
            <a:ext cx="32918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1691640"/>
          </a:xfrm>
          <a:prstGeom prst="rect">
            <a:avLst/>
          </a:prstGeom>
          <a:noFill/>
        </p:spPr>
        <p:txBody>
          <a:bodyPr wrap="square">
            <a:spAutoFit/>
          </a:bodyPr>
          <a:lstStyle/>
          <a:p>
            <a:pPr>
              <a:spcAft>
                <a:spcPts val="1000"/>
              </a:spcAft>
              <a:defRPr sz="1500" b="1">
                <a:solidFill>
                  <a:srgbClr val="F8FAFC"/>
                </a:solidFill>
              </a:defRPr>
            </a:pPr>
            <a:r>
              <a:t>CONTINUE_SIMULATED_FLOW</a:t>
            </a:r>
          </a:p>
          <a:p>
            <a:pPr>
              <a:spcAft>
                <a:spcPts val="600"/>
              </a:spcAft>
              <a:defRPr sz="1100">
                <a:solidFill>
                  <a:srgbClr val="94A3B8"/>
                </a:solidFill>
              </a:defRPr>
            </a:pPr>
            <a:r>
              <a:t>•  Score &lt; 0.35 + Verified Payee + Clean SNR.</a:t>
            </a:r>
          </a:p>
          <a:p>
            <a:pPr>
              <a:spcAft>
                <a:spcPts val="600"/>
              </a:spcAft>
              <a:defRPr sz="1100">
                <a:solidFill>
                  <a:srgbClr val="94A3B8"/>
                </a:solidFill>
              </a:defRPr>
            </a:pPr>
            <a:r>
              <a:t>•  Automated transaction cleared for execution.</a:t>
            </a:r>
          </a:p>
          <a:p>
            <a:pPr>
              <a:spcAft>
                <a:spcPts val="600"/>
              </a:spcAft>
              <a:defRPr sz="1100">
                <a:solidFill>
                  <a:srgbClr val="94A3B8"/>
                </a:solidFill>
              </a:defRPr>
            </a:pPr>
            <a:r>
              <a:t>•  Zero friction for legitimate retail clients.</a:t>
            </a:r>
          </a:p>
        </p:txBody>
      </p:sp>
      <p:sp>
        <p:nvSpPr>
          <p:cNvPr id="9" name="Rounded Rectangle 8"/>
          <p:cNvSpPr/>
          <p:nvPr/>
        </p:nvSpPr>
        <p:spPr>
          <a:xfrm>
            <a:off x="4389120" y="2011680"/>
            <a:ext cx="32918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1691640"/>
          </a:xfrm>
          <a:prstGeom prst="rect">
            <a:avLst/>
          </a:prstGeom>
          <a:noFill/>
        </p:spPr>
        <p:txBody>
          <a:bodyPr wrap="square">
            <a:spAutoFit/>
          </a:bodyPr>
          <a:lstStyle/>
          <a:p>
            <a:pPr>
              <a:spcAft>
                <a:spcPts val="1000"/>
              </a:spcAft>
              <a:defRPr sz="1500" b="1">
                <a:solidFill>
                  <a:srgbClr val="F8FAFC"/>
                </a:solidFill>
              </a:defRPr>
            </a:pPr>
            <a:r>
              <a:t>STEP_UP_VERIFICATION</a:t>
            </a:r>
          </a:p>
          <a:p>
            <a:pPr>
              <a:spcAft>
                <a:spcPts val="600"/>
              </a:spcAft>
              <a:defRPr sz="1100">
                <a:solidFill>
                  <a:srgbClr val="94A3B8"/>
                </a:solidFill>
              </a:defRPr>
            </a:pPr>
            <a:r>
              <a:t>•  Score 0.35 - 0.70 OR First-time payee profile.</a:t>
            </a:r>
          </a:p>
          <a:p>
            <a:pPr>
              <a:spcAft>
                <a:spcPts val="600"/>
              </a:spcAft>
              <a:defRPr sz="1100">
                <a:solidFill>
                  <a:srgbClr val="94A3B8"/>
                </a:solidFill>
              </a:defRPr>
            </a:pPr>
            <a:r>
              <a:t>•  Halts auto-release; triggers out-of-band push/SMS.</a:t>
            </a:r>
          </a:p>
          <a:p>
            <a:pPr>
              <a:spcAft>
                <a:spcPts val="600"/>
              </a:spcAft>
              <a:defRPr sz="1100">
                <a:solidFill>
                  <a:srgbClr val="94A3B8"/>
                </a:solidFill>
              </a:defRPr>
            </a:pPr>
            <a:r>
              <a:t>•  Prevents unverified payee account takeover.</a:t>
            </a:r>
          </a:p>
        </p:txBody>
      </p:sp>
      <p:sp>
        <p:nvSpPr>
          <p:cNvPr id="12" name="Rounded Rectangle 11"/>
          <p:cNvSpPr/>
          <p:nvPr/>
        </p:nvSpPr>
        <p:spPr>
          <a:xfrm>
            <a:off x="8046720" y="2011680"/>
            <a:ext cx="32918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1691640"/>
          </a:xfrm>
          <a:prstGeom prst="rect">
            <a:avLst/>
          </a:prstGeom>
          <a:noFill/>
        </p:spPr>
        <p:txBody>
          <a:bodyPr wrap="square">
            <a:spAutoFit/>
          </a:bodyPr>
          <a:lstStyle/>
          <a:p>
            <a:pPr>
              <a:spcAft>
                <a:spcPts val="1000"/>
              </a:spcAft>
              <a:defRPr sz="1500" b="1">
                <a:solidFill>
                  <a:srgbClr val="F8FAFC"/>
                </a:solidFill>
              </a:defRPr>
            </a:pPr>
            <a:r>
              <a:t>PAUSE_AND_VERIFY</a:t>
            </a:r>
          </a:p>
          <a:p>
            <a:pPr>
              <a:spcAft>
                <a:spcPts val="600"/>
              </a:spcAft>
              <a:defRPr sz="1100">
                <a:solidFill>
                  <a:srgbClr val="94A3B8"/>
                </a:solidFill>
              </a:defRPr>
            </a:pPr>
            <a:r>
              <a:t>•  Score &gt; 0.70 + High Amount (&gt;$5,000) or new payee.</a:t>
            </a:r>
          </a:p>
          <a:p>
            <a:pPr>
              <a:spcAft>
                <a:spcPts val="600"/>
              </a:spcAft>
              <a:defRPr sz="1100">
                <a:solidFill>
                  <a:srgbClr val="94A3B8"/>
                </a:solidFill>
              </a:defRPr>
            </a:pPr>
            <a:r>
              <a:t>•  Immediate hold placed on funds dispatch.</a:t>
            </a:r>
          </a:p>
          <a:p>
            <a:pPr>
              <a:spcAft>
                <a:spcPts val="600"/>
              </a:spcAft>
              <a:defRPr sz="1100">
                <a:solidFill>
                  <a:srgbClr val="94A3B8"/>
                </a:solidFill>
              </a:defRPr>
            </a:pPr>
            <a:r>
              <a:t>•  Direct transfer to Fraud Desk Callback protocol.</a:t>
            </a:r>
          </a:p>
        </p:txBody>
      </p:sp>
      <p:sp>
        <p:nvSpPr>
          <p:cNvPr id="15" name="Rounded Rectangle 14"/>
          <p:cNvSpPr/>
          <p:nvPr/>
        </p:nvSpPr>
        <p:spPr>
          <a:xfrm>
            <a:off x="731520" y="4297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297680"/>
            <a:ext cx="512064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80560"/>
            <a:ext cx="4663440" cy="1691640"/>
          </a:xfrm>
          <a:prstGeom prst="rect">
            <a:avLst/>
          </a:prstGeom>
          <a:noFill/>
        </p:spPr>
        <p:txBody>
          <a:bodyPr wrap="square">
            <a:spAutoFit/>
          </a:bodyPr>
          <a:lstStyle/>
          <a:p>
            <a:pPr>
              <a:spcAft>
                <a:spcPts val="1000"/>
              </a:spcAft>
              <a:defRPr sz="1500" b="1">
                <a:solidFill>
                  <a:srgbClr val="F8FAFC"/>
                </a:solidFill>
              </a:defRPr>
            </a:pPr>
            <a:r>
              <a:t>INCONCLUSIVE_VERIFY</a:t>
            </a:r>
          </a:p>
          <a:p>
            <a:pPr>
              <a:spcAft>
                <a:spcPts val="600"/>
              </a:spcAft>
              <a:defRPr sz="1100">
                <a:solidFill>
                  <a:srgbClr val="94A3B8"/>
                </a:solidFill>
              </a:defRPr>
            </a:pPr>
            <a:r>
              <a:t>•  Low SNR, near-silence, distorted preamp, or high uncertainty.</a:t>
            </a:r>
          </a:p>
          <a:p>
            <a:pPr>
              <a:spcAft>
                <a:spcPts val="600"/>
              </a:spcAft>
              <a:defRPr sz="1100">
                <a:solidFill>
                  <a:srgbClr val="94A3B8"/>
                </a:solidFill>
              </a:defRPr>
            </a:pPr>
            <a:r>
              <a:t>•  Prompts caller for quieter environment or switches to secondary auth.</a:t>
            </a:r>
          </a:p>
          <a:p>
            <a:pPr>
              <a:spcAft>
                <a:spcPts val="600"/>
              </a:spcAft>
              <a:defRPr sz="1100">
                <a:solidFill>
                  <a:srgbClr val="94A3B8"/>
                </a:solidFill>
              </a:defRPr>
            </a:pPr>
            <a:r>
              <a:t>•  Protects against false rejections due to bad phone reception.</a:t>
            </a:r>
          </a:p>
        </p:txBody>
      </p:sp>
      <p:sp>
        <p:nvSpPr>
          <p:cNvPr id="18" name="Rounded Rectangle 17"/>
          <p:cNvSpPr/>
          <p:nvPr/>
        </p:nvSpPr>
        <p:spPr>
          <a:xfrm>
            <a:off x="6217920" y="4297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297680"/>
            <a:ext cx="512064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480560"/>
            <a:ext cx="4663440" cy="1691640"/>
          </a:xfrm>
          <a:prstGeom prst="rect">
            <a:avLst/>
          </a:prstGeom>
          <a:noFill/>
        </p:spPr>
        <p:txBody>
          <a:bodyPr wrap="square">
            <a:spAutoFit/>
          </a:bodyPr>
          <a:lstStyle/>
          <a:p>
            <a:pPr>
              <a:spcAft>
                <a:spcPts val="1000"/>
              </a:spcAft>
              <a:defRPr sz="1500" b="1">
                <a:solidFill>
                  <a:srgbClr val="F8FAFC"/>
                </a:solidFill>
              </a:defRPr>
            </a:pPr>
            <a:r>
              <a:t>MODEL_UNAVAILABLE (Graceful Fallback)</a:t>
            </a:r>
          </a:p>
          <a:p>
            <a:pPr>
              <a:spcAft>
                <a:spcPts val="600"/>
              </a:spcAft>
              <a:defRPr sz="1100">
                <a:solidFill>
                  <a:srgbClr val="94A3B8"/>
                </a:solidFill>
              </a:defRPr>
            </a:pPr>
            <a:r>
              <a:t>•  Triggered if PyTorch inference service is restarting or offline.</a:t>
            </a:r>
          </a:p>
          <a:p>
            <a:pPr>
              <a:spcAft>
                <a:spcPts val="600"/>
              </a:spcAft>
              <a:defRPr sz="1100">
                <a:solidFill>
                  <a:srgbClr val="94A3B8"/>
                </a:solidFill>
              </a:defRPr>
            </a:pPr>
            <a:r>
              <a:t>•  Fails safe to non-biometric banking controls (MFA + desk review).</a:t>
            </a:r>
          </a:p>
          <a:p>
            <a:pPr>
              <a:spcAft>
                <a:spcPts val="600"/>
              </a:spcAft>
              <a:defRPr sz="1100">
                <a:solidFill>
                  <a:srgbClr val="94A3B8"/>
                </a:solidFill>
              </a:defRPr>
            </a:pPr>
            <a:r>
              <a:t>•  Guarantees payment rails never stall or fail silently.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SIGNAL FORENSICS</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Audio Quality &amp; Acoustic Channel Verification</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Automated diagnostic checks evaluate the input signal prior to neural inference.</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1. Signal-to-Noise Ratio (SNR)</a:t>
            </a:r>
          </a:p>
          <a:p>
            <a:pPr>
              <a:spcAft>
                <a:spcPts val="600"/>
              </a:spcAft>
              <a:defRPr sz="1100">
                <a:solidFill>
                  <a:srgbClr val="94A3B8"/>
                </a:solidFill>
              </a:defRPr>
            </a:pPr>
            <a:r>
              <a:t>•  Calculates ratio of active speech energy to background ambient noise floor.</a:t>
            </a:r>
          </a:p>
          <a:p>
            <a:pPr>
              <a:spcAft>
                <a:spcPts val="600"/>
              </a:spcAft>
              <a:defRPr sz="1100">
                <a:solidFill>
                  <a:srgbClr val="94A3B8"/>
                </a:solidFill>
              </a:defRPr>
            </a:pPr>
            <a:r>
              <a:t>•  Threshold: &gt;= 12 dB for optimal scoring.</a:t>
            </a:r>
          </a:p>
          <a:p>
            <a:pPr>
              <a:spcAft>
                <a:spcPts val="600"/>
              </a:spcAft>
              <a:defRPr sz="1100">
                <a:solidFill>
                  <a:srgbClr val="94A3B8"/>
                </a:solidFill>
              </a:defRPr>
            </a:pPr>
            <a:r>
              <a:t>•  Prevents noisy street environments or poor headsets from skewing clone models.</a:t>
            </a:r>
          </a:p>
          <a:p>
            <a:pPr>
              <a:spcAft>
                <a:spcPts val="600"/>
              </a:spcAft>
              <a:defRPr sz="1100">
                <a:solidFill>
                  <a:srgbClr val="94A3B8"/>
                </a:solidFill>
              </a:defRPr>
            </a:pPr>
            <a:r>
              <a:t>•  Identifies artificial white-noise masking added by sophisticated attackers.</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2. Digital Clipping &amp; Overload</a:t>
            </a:r>
          </a:p>
          <a:p>
            <a:pPr>
              <a:spcAft>
                <a:spcPts val="600"/>
              </a:spcAft>
              <a:defRPr sz="1100">
                <a:solidFill>
                  <a:srgbClr val="94A3B8"/>
                </a:solidFill>
              </a:defRPr>
            </a:pPr>
            <a:r>
              <a:t>•  Scans audio waveform for sample saturation (&gt;0.999 amplitude).</a:t>
            </a:r>
          </a:p>
          <a:p>
            <a:pPr>
              <a:spcAft>
                <a:spcPts val="600"/>
              </a:spcAft>
              <a:defRPr sz="1100">
                <a:solidFill>
                  <a:srgbClr val="94A3B8"/>
                </a:solidFill>
              </a:defRPr>
            </a:pPr>
            <a:r>
              <a:t>•  Calculates percentage ratio of clipped frames.</a:t>
            </a:r>
          </a:p>
          <a:p>
            <a:pPr>
              <a:spcAft>
                <a:spcPts val="600"/>
              </a:spcAft>
              <a:defRPr sz="1100">
                <a:solidFill>
                  <a:srgbClr val="94A3B8"/>
                </a:solidFill>
              </a:defRPr>
            </a:pPr>
            <a:r>
              <a:t>•  Excessive clipping distorts frequency harmonics, generating false vocoder signatures.</a:t>
            </a:r>
          </a:p>
          <a:p>
            <a:pPr>
              <a:spcAft>
                <a:spcPts val="600"/>
              </a:spcAft>
              <a:defRPr sz="1100">
                <a:solidFill>
                  <a:srgbClr val="94A3B8"/>
                </a:solidFill>
              </a:defRPr>
            </a:pPr>
            <a:r>
              <a:t>•  Automatically flags distorted microphones for caller gain adjustment.</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3. Silence &amp; Duration Limits</a:t>
            </a:r>
          </a:p>
          <a:p>
            <a:pPr>
              <a:spcAft>
                <a:spcPts val="600"/>
              </a:spcAft>
              <a:defRPr sz="1100">
                <a:solidFill>
                  <a:srgbClr val="94A3B8"/>
                </a:solidFill>
              </a:defRPr>
            </a:pPr>
            <a:r>
              <a:t>•  Root-Mean-Square (RMS) threshold filters out dead air and silent calls.</a:t>
            </a:r>
          </a:p>
          <a:p>
            <a:pPr>
              <a:spcAft>
                <a:spcPts val="600"/>
              </a:spcAft>
              <a:defRPr sz="1100">
                <a:solidFill>
                  <a:srgbClr val="94A3B8"/>
                </a:solidFill>
              </a:defRPr>
            </a:pPr>
            <a:r>
              <a:t>•  Enforces 0.5s minimum to ensure sufficient phonemes for prosodic analysis.</a:t>
            </a:r>
          </a:p>
          <a:p>
            <a:pPr>
              <a:spcAft>
                <a:spcPts val="600"/>
              </a:spcAft>
              <a:defRPr sz="1100">
                <a:solidFill>
                  <a:srgbClr val="94A3B8"/>
                </a:solidFill>
              </a:defRPr>
            </a:pPr>
            <a:r>
              <a:t>•  Caps recording at 60s maximum to prevent buffer overflow attacks.</a:t>
            </a:r>
          </a:p>
          <a:p>
            <a:pPr>
              <a:spcAft>
                <a:spcPts val="600"/>
              </a:spcAft>
              <a:defRPr sz="1100">
                <a:solidFill>
                  <a:srgbClr val="94A3B8"/>
                </a:solidFill>
              </a:defRPr>
            </a:pPr>
            <a:r>
              <a:t>•  Rejects malformed containers before GPU/CPU resources are consumed.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PRIVACY BY DESIGN</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Three-Tier Data Isolation &amp; Zero Retention</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Designed for strict GDPR, CCPA, and BIPA compliance. Raw speech recordings are never retained.</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Tier 1: Browser-Local Audio</a:t>
            </a:r>
          </a:p>
          <a:p>
            <a:pPr>
              <a:spcAft>
                <a:spcPts val="600"/>
              </a:spcAft>
              <a:defRPr sz="1100">
                <a:solidFill>
                  <a:srgbClr val="94A3B8"/>
                </a:solidFill>
              </a:defRPr>
            </a:pPr>
            <a:r>
              <a:t>•  Microphone capture runs inside client's Web Audio API and MediaRecorder RAM.</a:t>
            </a:r>
          </a:p>
          <a:p>
            <a:pPr>
              <a:spcAft>
                <a:spcPts val="600"/>
              </a:spcAft>
              <a:defRPr sz="1100">
                <a:solidFill>
                  <a:srgbClr val="94A3B8"/>
                </a:solidFill>
              </a:defRPr>
            </a:pPr>
            <a:r>
              <a:t>•  Audio is never streamed continuously; only dispatched upon explicit user action.</a:t>
            </a:r>
          </a:p>
          <a:p>
            <a:pPr>
              <a:spcAft>
                <a:spcPts val="600"/>
              </a:spcAft>
              <a:defRPr sz="1100">
                <a:solidFill>
                  <a:srgbClr val="94A3B8"/>
                </a:solidFill>
              </a:defRPr>
            </a:pPr>
            <a:r>
              <a:t>•  Ephemeral WAV buffer resides in memory and is wiped on browser reload.</a:t>
            </a:r>
          </a:p>
          <a:p>
            <a:pPr>
              <a:spcAft>
                <a:spcPts val="600"/>
              </a:spcAft>
              <a:defRPr sz="1100">
                <a:solidFill>
                  <a:srgbClr val="94A3B8"/>
                </a:solidFill>
              </a:defRPr>
            </a:pPr>
            <a:r>
              <a:t>•  Zero third-party tracking scripts or remote telemetry collectors.</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Tier 2: Ephemeral Backend Buffer</a:t>
            </a:r>
          </a:p>
          <a:p>
            <a:pPr>
              <a:spcAft>
                <a:spcPts val="600"/>
              </a:spcAft>
              <a:defRPr sz="1100">
                <a:solidFill>
                  <a:srgbClr val="94A3B8"/>
                </a:solidFill>
              </a:defRPr>
            </a:pPr>
            <a:r>
              <a:t>•  FastAPI writes bytes to a randomized UUID temp file in an isolated directory.</a:t>
            </a:r>
          </a:p>
          <a:p>
            <a:pPr>
              <a:spcAft>
                <a:spcPts val="600"/>
              </a:spcAft>
              <a:defRPr sz="1100">
                <a:solidFill>
                  <a:srgbClr val="94A3B8"/>
                </a:solidFill>
              </a:defRPr>
            </a:pPr>
            <a:r>
              <a:t>•  File is unlinked immediately inside Python guaranteed finally: block.</a:t>
            </a:r>
          </a:p>
          <a:p>
            <a:pPr>
              <a:spcAft>
                <a:spcPts val="600"/>
              </a:spcAft>
              <a:defRPr sz="1100">
                <a:solidFill>
                  <a:srgbClr val="94A3B8"/>
                </a:solidFill>
              </a:defRPr>
            </a:pPr>
            <a:r>
              <a:t>•  Background task automatically sweeps any orphaned buffers older than 5 minutes.</a:t>
            </a:r>
          </a:p>
          <a:p>
            <a:pPr>
              <a:spcAft>
                <a:spcPts val="600"/>
              </a:spcAft>
              <a:defRPr sz="1100">
                <a:solidFill>
                  <a:srgbClr val="94A3B8"/>
                </a:solidFill>
              </a:defRPr>
            </a:pPr>
            <a:r>
              <a:t>•  Zero audio persisted on physical disks post-inference.</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Tier 3: Metadata-Only SQLite</a:t>
            </a:r>
          </a:p>
          <a:p>
            <a:pPr>
              <a:spcAft>
                <a:spcPts val="600"/>
              </a:spcAft>
              <a:defRPr sz="1100">
                <a:solidFill>
                  <a:srgbClr val="94A3B8"/>
                </a:solidFill>
              </a:defRPr>
            </a:pPr>
            <a:r>
              <a:t>•  Audit ledger records non-biometric events: Event ID, timestamp, synthetic float, latency.</a:t>
            </a:r>
          </a:p>
          <a:p>
            <a:pPr>
              <a:spcAft>
                <a:spcPts val="600"/>
              </a:spcAft>
              <a:defRPr sz="1100">
                <a:solidFill>
                  <a:srgbClr val="94A3B8"/>
                </a:solidFill>
              </a:defRPr>
            </a:pPr>
            <a:r>
              <a:t>•  No voiceprints, acoustic embeddings, biometric templates, or audio transcripts stored.</a:t>
            </a:r>
          </a:p>
          <a:p>
            <a:pPr>
              <a:spcAft>
                <a:spcPts val="600"/>
              </a:spcAft>
              <a:defRPr sz="1100">
                <a:solidFill>
                  <a:srgbClr val="94A3B8"/>
                </a:solidFill>
              </a:defRPr>
            </a:pPr>
            <a:r>
              <a:t>•  Fully exportable via CSV for banking regulatory audit trails.</a:t>
            </a:r>
          </a:p>
          <a:p>
            <a:pPr>
              <a:spcAft>
                <a:spcPts val="600"/>
              </a:spcAft>
              <a:defRPr sz="1100">
                <a:solidFill>
                  <a:srgbClr val="94A3B8"/>
                </a:solidFill>
              </a:defRPr>
            </a:pPr>
            <a:r>
              <a:t>•  One-click administrative purge for zero data footprint.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CASE STUDIES</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Simulated Financial Transaction Scenarios</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Validating engine efficacy across real-world legitimate and threat vectors.</a:t>
            </a:r>
          </a:p>
        </p:txBody>
      </p:sp>
      <p:sp>
        <p:nvSpPr>
          <p:cNvPr id="6" name="Rounded Rectangle 5"/>
          <p:cNvSpPr/>
          <p:nvPr/>
        </p:nvSpPr>
        <p:spPr>
          <a:xfrm>
            <a:off x="731520" y="2011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5120640" cy="36576"/>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4663440" cy="1691640"/>
          </a:xfrm>
          <a:prstGeom prst="rect">
            <a:avLst/>
          </a:prstGeom>
          <a:noFill/>
        </p:spPr>
        <p:txBody>
          <a:bodyPr wrap="square">
            <a:spAutoFit/>
          </a:bodyPr>
          <a:lstStyle/>
          <a:p>
            <a:pPr>
              <a:spcAft>
                <a:spcPts val="1000"/>
              </a:spcAft>
              <a:defRPr sz="1500" b="1">
                <a:solidFill>
                  <a:srgbClr val="F8FAFC"/>
                </a:solidFill>
              </a:defRPr>
            </a:pPr>
            <a:r>
              <a:t>Scenario A: $45,000 Wire Transfer (Deepfake Attack)</a:t>
            </a:r>
          </a:p>
          <a:p>
            <a:pPr>
              <a:spcAft>
                <a:spcPts val="600"/>
              </a:spcAft>
              <a:defRPr sz="1100">
                <a:solidFill>
                  <a:srgbClr val="94A3B8"/>
                </a:solidFill>
              </a:defRPr>
            </a:pPr>
            <a:r>
              <a:t>•  Input: Voice Score 94% | Payee: New Unverified Account | High Value ($45k).</a:t>
            </a:r>
          </a:p>
          <a:p>
            <a:pPr>
              <a:spcAft>
                <a:spcPts val="600"/>
              </a:spcAft>
              <a:defRPr sz="1100">
                <a:solidFill>
                  <a:srgbClr val="94A3B8"/>
                </a:solidFill>
              </a:defRPr>
            </a:pPr>
            <a:r>
              <a:t>•  Engine Decision: PAUSE_AND_VERIFY (Critical Risk).</a:t>
            </a:r>
          </a:p>
          <a:p>
            <a:pPr>
              <a:spcAft>
                <a:spcPts val="600"/>
              </a:spcAft>
              <a:defRPr sz="1100">
                <a:solidFill>
                  <a:srgbClr val="94A3B8"/>
                </a:solidFill>
              </a:defRPr>
            </a:pPr>
            <a:r>
              <a:t>•  Mitigation: Immediate hold placed on outbound wire. Out-of-band desk review callback initiated.</a:t>
            </a:r>
          </a:p>
          <a:p>
            <a:pPr>
              <a:spcAft>
                <a:spcPts val="600"/>
              </a:spcAft>
              <a:defRPr sz="1100">
                <a:solidFill>
                  <a:srgbClr val="94A3B8"/>
                </a:solidFill>
              </a:defRPr>
            </a:pPr>
            <a:r>
              <a:t>•  Result: Fraud prevented with zero capital loss.</a:t>
            </a:r>
          </a:p>
        </p:txBody>
      </p:sp>
      <p:sp>
        <p:nvSpPr>
          <p:cNvPr id="9" name="Rounded Rectangle 8"/>
          <p:cNvSpPr/>
          <p:nvPr/>
        </p:nvSpPr>
        <p:spPr>
          <a:xfrm>
            <a:off x="6217920" y="2011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011680"/>
            <a:ext cx="51206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94560"/>
            <a:ext cx="4663440" cy="1691640"/>
          </a:xfrm>
          <a:prstGeom prst="rect">
            <a:avLst/>
          </a:prstGeom>
          <a:noFill/>
        </p:spPr>
        <p:txBody>
          <a:bodyPr wrap="square">
            <a:spAutoFit/>
          </a:bodyPr>
          <a:lstStyle/>
          <a:p>
            <a:pPr>
              <a:spcAft>
                <a:spcPts val="1000"/>
              </a:spcAft>
              <a:defRPr sz="1500" b="1">
                <a:solidFill>
                  <a:srgbClr val="F8FAFC"/>
                </a:solidFill>
              </a:defRPr>
            </a:pPr>
            <a:r>
              <a:t>Scenario B: $250 Routine P2P Transfer (Legitimate User)</a:t>
            </a:r>
          </a:p>
          <a:p>
            <a:pPr>
              <a:spcAft>
                <a:spcPts val="600"/>
              </a:spcAft>
              <a:defRPr sz="1100">
                <a:solidFill>
                  <a:srgbClr val="94A3B8"/>
                </a:solidFill>
              </a:defRPr>
            </a:pPr>
            <a:r>
              <a:t>•  Input: Voice Score 12% | Payee: Verified Trusted Payee | Amount: $250.</a:t>
            </a:r>
          </a:p>
          <a:p>
            <a:pPr>
              <a:spcAft>
                <a:spcPts val="600"/>
              </a:spcAft>
              <a:defRPr sz="1100">
                <a:solidFill>
                  <a:srgbClr val="94A3B8"/>
                </a:solidFill>
              </a:defRPr>
            </a:pPr>
            <a:r>
              <a:t>•  Engine Decision: CONTINUE_SIMULATED_FLOW (Low Risk).</a:t>
            </a:r>
          </a:p>
          <a:p>
            <a:pPr>
              <a:spcAft>
                <a:spcPts val="600"/>
              </a:spcAft>
              <a:defRPr sz="1100">
                <a:solidFill>
                  <a:srgbClr val="94A3B8"/>
                </a:solidFill>
              </a:defRPr>
            </a:pPr>
            <a:r>
              <a:t>•  Mitigation: Automated simulated dispatch approved instantly.</a:t>
            </a:r>
          </a:p>
          <a:p>
            <a:pPr>
              <a:spcAft>
                <a:spcPts val="600"/>
              </a:spcAft>
              <a:defRPr sz="1100">
                <a:solidFill>
                  <a:srgbClr val="94A3B8"/>
                </a:solidFill>
              </a:defRPr>
            </a:pPr>
            <a:r>
              <a:t>•  Result: Zero user friction; 100% genuine customer clearance.</a:t>
            </a:r>
          </a:p>
        </p:txBody>
      </p:sp>
      <p:sp>
        <p:nvSpPr>
          <p:cNvPr id="12" name="Rounded Rectangle 11"/>
          <p:cNvSpPr/>
          <p:nvPr/>
        </p:nvSpPr>
        <p:spPr>
          <a:xfrm>
            <a:off x="731520" y="4297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97680"/>
            <a:ext cx="512064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80560"/>
            <a:ext cx="4663440" cy="1691640"/>
          </a:xfrm>
          <a:prstGeom prst="rect">
            <a:avLst/>
          </a:prstGeom>
          <a:noFill/>
        </p:spPr>
        <p:txBody>
          <a:bodyPr wrap="square">
            <a:spAutoFit/>
          </a:bodyPr>
          <a:lstStyle/>
          <a:p>
            <a:pPr>
              <a:spcAft>
                <a:spcPts val="1000"/>
              </a:spcAft>
              <a:defRPr sz="1500" b="1">
                <a:solidFill>
                  <a:srgbClr val="F8FAFC"/>
                </a:solidFill>
              </a:defRPr>
            </a:pPr>
            <a:r>
              <a:t>Scenario C: $8,000 Loan Disbursement (Borderline Clone)</a:t>
            </a:r>
          </a:p>
          <a:p>
            <a:pPr>
              <a:spcAft>
                <a:spcPts val="600"/>
              </a:spcAft>
              <a:defRPr sz="1100">
                <a:solidFill>
                  <a:srgbClr val="94A3B8"/>
                </a:solidFill>
              </a:defRPr>
            </a:pPr>
            <a:r>
              <a:t>•  Input: Voice Score 58% | Payee: Newly Added Account | Amount: $8,000.</a:t>
            </a:r>
          </a:p>
          <a:p>
            <a:pPr>
              <a:spcAft>
                <a:spcPts val="600"/>
              </a:spcAft>
              <a:defRPr sz="1100">
                <a:solidFill>
                  <a:srgbClr val="94A3B8"/>
                </a:solidFill>
              </a:defRPr>
            </a:pPr>
            <a:r>
              <a:t>•  Engine Decision: STEP_UP_VERIFICATION (Medium-High Risk).</a:t>
            </a:r>
          </a:p>
          <a:p>
            <a:pPr>
              <a:spcAft>
                <a:spcPts val="600"/>
              </a:spcAft>
              <a:defRPr sz="1100">
                <a:solidFill>
                  <a:srgbClr val="94A3B8"/>
                </a:solidFill>
              </a:defRPr>
            </a:pPr>
            <a:r>
              <a:t>•  Mitigation: Caller prompted for push-notification MFA challenge.</a:t>
            </a:r>
          </a:p>
          <a:p>
            <a:pPr>
              <a:spcAft>
                <a:spcPts val="600"/>
              </a:spcAft>
              <a:defRPr sz="1100">
                <a:solidFill>
                  <a:srgbClr val="94A3B8"/>
                </a:solidFill>
              </a:defRPr>
            </a:pPr>
            <a:r>
              <a:t>•  Result: User verified without abrupt account lockouts.</a:t>
            </a:r>
          </a:p>
        </p:txBody>
      </p:sp>
      <p:sp>
        <p:nvSpPr>
          <p:cNvPr id="15" name="Rounded Rectangle 14"/>
          <p:cNvSpPr/>
          <p:nvPr/>
        </p:nvSpPr>
        <p:spPr>
          <a:xfrm>
            <a:off x="6217920" y="4297680"/>
            <a:ext cx="5120640" cy="201168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297680"/>
            <a:ext cx="51206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480560"/>
            <a:ext cx="4663440" cy="1691640"/>
          </a:xfrm>
          <a:prstGeom prst="rect">
            <a:avLst/>
          </a:prstGeom>
          <a:noFill/>
        </p:spPr>
        <p:txBody>
          <a:bodyPr wrap="square">
            <a:spAutoFit/>
          </a:bodyPr>
          <a:lstStyle/>
          <a:p>
            <a:pPr>
              <a:spcAft>
                <a:spcPts val="1000"/>
              </a:spcAft>
              <a:defRPr sz="1500" b="1">
                <a:solidFill>
                  <a:srgbClr val="F8FAFC"/>
                </a:solidFill>
              </a:defRPr>
            </a:pPr>
            <a:r>
              <a:t>Scenario D: $3,500 Mobile Wire (Low SNR Street Noise)</a:t>
            </a:r>
          </a:p>
          <a:p>
            <a:pPr>
              <a:spcAft>
                <a:spcPts val="600"/>
              </a:spcAft>
              <a:defRPr sz="1100">
                <a:solidFill>
                  <a:srgbClr val="94A3B8"/>
                </a:solidFill>
              </a:defRPr>
            </a:pPr>
            <a:r>
              <a:t>•  Input: Channel SNR &lt; 12 dB | Environmental traffic noise masking.</a:t>
            </a:r>
          </a:p>
          <a:p>
            <a:pPr>
              <a:spcAft>
                <a:spcPts val="600"/>
              </a:spcAft>
              <a:defRPr sz="1100">
                <a:solidFill>
                  <a:srgbClr val="94A3B8"/>
                </a:solidFill>
              </a:defRPr>
            </a:pPr>
            <a:r>
              <a:t>•  Engine Decision: INCONCLUSIVE_VERIFY (Ambiguous Signal).</a:t>
            </a:r>
          </a:p>
          <a:p>
            <a:pPr>
              <a:spcAft>
                <a:spcPts val="600"/>
              </a:spcAft>
              <a:defRPr sz="1100">
                <a:solidFill>
                  <a:srgbClr val="94A3B8"/>
                </a:solidFill>
              </a:defRPr>
            </a:pPr>
            <a:r>
              <a:t>•  Mitigation: Caller requested to use quiet audio or secondary password auth.</a:t>
            </a:r>
          </a:p>
          <a:p>
            <a:pPr>
              <a:spcAft>
                <a:spcPts val="600"/>
              </a:spcAft>
              <a:defRPr sz="1100">
                <a:solidFill>
                  <a:srgbClr val="94A3B8"/>
                </a:solidFill>
              </a:defRPr>
            </a:pPr>
            <a:r>
              <a:t>•  Result: Prevents misclassification caused by channel distortion.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SOC OPERATIONS</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Enterprise Security Analyst Workflow</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Unified web interface engineered for fraud investigators, compliance officers, and risk engineers.</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Live Mic Detection &amp; Forensics</a:t>
            </a:r>
          </a:p>
          <a:p>
            <a:pPr>
              <a:spcAft>
                <a:spcPts val="600"/>
              </a:spcAft>
              <a:defRPr sz="1100">
                <a:solidFill>
                  <a:srgbClr val="94A3B8"/>
                </a:solidFill>
              </a:defRPr>
            </a:pPr>
            <a:r>
              <a:t>•  Real-time audio intensity equalizer and decibel monitoring.</a:t>
            </a:r>
          </a:p>
          <a:p>
            <a:pPr>
              <a:spcAft>
                <a:spcPts val="600"/>
              </a:spcAft>
              <a:defRPr sz="1100">
                <a:solidFill>
                  <a:srgbClr val="94A3B8"/>
                </a:solidFill>
              </a:defRPr>
            </a:pPr>
            <a:r>
              <a:t>•  Browser-side recording with auto-conversion to 16kHz PCM WAV.</a:t>
            </a:r>
          </a:p>
          <a:p>
            <a:pPr>
              <a:spcAft>
                <a:spcPts val="600"/>
              </a:spcAft>
              <a:defRPr sz="1100">
                <a:solidFill>
                  <a:srgbClr val="94A3B8"/>
                </a:solidFill>
              </a:defRPr>
            </a:pPr>
            <a:r>
              <a:t>•  Immediate visualization of synthetic score gauge and SNR.</a:t>
            </a:r>
          </a:p>
          <a:p>
            <a:pPr>
              <a:spcAft>
                <a:spcPts val="600"/>
              </a:spcAft>
              <a:defRPr sz="1100">
                <a:solidFill>
                  <a:srgbClr val="94A3B8"/>
                </a:solidFill>
              </a:defRPr>
            </a:pPr>
            <a:r>
              <a:t>•  Explicit reason codes explaining exact decision drivers.</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Batch Audio Forensic Upload</a:t>
            </a:r>
          </a:p>
          <a:p>
            <a:pPr>
              <a:spcAft>
                <a:spcPts val="600"/>
              </a:spcAft>
              <a:defRPr sz="1100">
                <a:solidFill>
                  <a:srgbClr val="94A3B8"/>
                </a:solidFill>
              </a:defRPr>
            </a:pPr>
            <a:r>
              <a:t>•  Drag-and-drop support for WAV, MP3, FLAC, OGG, M4A, and WEBM.</a:t>
            </a:r>
          </a:p>
          <a:p>
            <a:pPr>
              <a:spcAft>
                <a:spcPts val="600"/>
              </a:spcAft>
              <a:defRPr sz="1100">
                <a:solidFill>
                  <a:srgbClr val="94A3B8"/>
                </a:solidFill>
              </a:defRPr>
            </a:pPr>
            <a:r>
              <a:t>•  Inject financial context (amount, recipient category, pedigree).</a:t>
            </a:r>
          </a:p>
          <a:p>
            <a:pPr>
              <a:spcAft>
                <a:spcPts val="600"/>
              </a:spcAft>
              <a:defRPr sz="1100">
                <a:solidFill>
                  <a:srgbClr val="94A3B8"/>
                </a:solidFill>
              </a:defRPr>
            </a:pPr>
            <a:r>
              <a:t>•  Dual assessment of acoustic spectrogram and risk exposure.</a:t>
            </a:r>
          </a:p>
          <a:p>
            <a:pPr>
              <a:spcAft>
                <a:spcPts val="600"/>
              </a:spcAft>
              <a:defRPr sz="1100">
                <a:solidFill>
                  <a:srgbClr val="94A3B8"/>
                </a:solidFill>
              </a:defRPr>
            </a:pPr>
            <a:r>
              <a:t>•  Zero file retention after result rendering.</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Audit Ledger &amp; Compliance Export</a:t>
            </a:r>
          </a:p>
          <a:p>
            <a:pPr>
              <a:spcAft>
                <a:spcPts val="600"/>
              </a:spcAft>
              <a:defRPr sz="1100">
                <a:solidFill>
                  <a:srgbClr val="94A3B8"/>
                </a:solidFill>
              </a:defRPr>
            </a:pPr>
            <a:r>
              <a:t>•  Filterable metadata log by Event ID, risk action, or date.</a:t>
            </a:r>
          </a:p>
          <a:p>
            <a:pPr>
              <a:spcAft>
                <a:spcPts val="600"/>
              </a:spcAft>
              <a:defRPr sz="1100">
                <a:solidFill>
                  <a:srgbClr val="94A3B8"/>
                </a:solidFill>
              </a:defRPr>
            </a:pPr>
            <a:r>
              <a:t>•  Detailed modal drill-downs showing cryptographic audit trail.</a:t>
            </a:r>
          </a:p>
          <a:p>
            <a:pPr>
              <a:spcAft>
                <a:spcPts val="600"/>
              </a:spcAft>
              <a:defRPr sz="1100">
                <a:solidFill>
                  <a:srgbClr val="94A3B8"/>
                </a:solidFill>
              </a:defRPr>
            </a:pPr>
            <a:r>
              <a:t>•  One-click CSV ledger export for bank regulatory compliance.</a:t>
            </a:r>
          </a:p>
          <a:p>
            <a:pPr>
              <a:spcAft>
                <a:spcPts val="600"/>
              </a:spcAft>
              <a:defRPr sz="1100">
                <a:solidFill>
                  <a:srgbClr val="94A3B8"/>
                </a:solidFill>
              </a:defRPr>
            </a:pPr>
            <a:r>
              <a:t>•  Administrative buffer purge and storage telemetry inspection.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TECH STACK</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Modern, Production-Ready Technology Stack</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Built without third-party AI APIs or external dependencies. Fully self-contained and auditable.</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Backend &amp; Inference Engine</a:t>
            </a:r>
          </a:p>
          <a:p>
            <a:pPr>
              <a:spcAft>
                <a:spcPts val="600"/>
              </a:spcAft>
              <a:defRPr sz="1100">
                <a:solidFill>
                  <a:srgbClr val="94A3B8"/>
                </a:solidFill>
              </a:defRPr>
            </a:pPr>
            <a:r>
              <a:t>•  FastAPI: High-throughput asynchronous HTTP gateway.</a:t>
            </a:r>
          </a:p>
          <a:p>
            <a:pPr>
              <a:spcAft>
                <a:spcPts val="600"/>
              </a:spcAft>
              <a:defRPr sz="1100">
                <a:solidFill>
                  <a:srgbClr val="94A3B8"/>
                </a:solidFill>
              </a:defRPr>
            </a:pPr>
            <a:r>
              <a:t>•  PyTorch 2.14+: Pure local CNN-BiGRU inference pipeline.</a:t>
            </a:r>
          </a:p>
          <a:p>
            <a:pPr>
              <a:spcAft>
                <a:spcPts val="600"/>
              </a:spcAft>
              <a:defRPr sz="1100">
                <a:solidFill>
                  <a:srgbClr val="94A3B8"/>
                </a:solidFill>
              </a:defRPr>
            </a:pPr>
            <a:r>
              <a:t>•  Soundfile &amp; SciPy: 16kHz audio validation &amp; signal analytics.</a:t>
            </a:r>
          </a:p>
          <a:p>
            <a:pPr>
              <a:spcAft>
                <a:spcPts val="600"/>
              </a:spcAft>
              <a:defRPr sz="1100">
                <a:solidFill>
                  <a:srgbClr val="94A3B8"/>
                </a:solidFill>
              </a:defRPr>
            </a:pPr>
            <a:r>
              <a:t>•  SQLite &amp; aiosqlite: Metadata-only non-biometric audit trail.</a:t>
            </a:r>
          </a:p>
          <a:p>
            <a:pPr>
              <a:spcAft>
                <a:spcPts val="600"/>
              </a:spcAft>
              <a:defRPr sz="1100">
                <a:solidFill>
                  <a:srgbClr val="94A3B8"/>
                </a:solidFill>
              </a:defRPr>
            </a:pPr>
            <a:r>
              <a:t>•  Pytest: 31 comprehensive unit and integration tests passing.</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Frontend &amp; Design System</a:t>
            </a:r>
          </a:p>
          <a:p>
            <a:pPr>
              <a:spcAft>
                <a:spcPts val="600"/>
              </a:spcAft>
              <a:defRPr sz="1100">
                <a:solidFill>
                  <a:srgbClr val="94A3B8"/>
                </a:solidFill>
              </a:defRPr>
            </a:pPr>
            <a:r>
              <a:t>•  React 19 + TypeScript + Vite for instant, responsive rendering.</a:t>
            </a:r>
          </a:p>
          <a:p>
            <a:pPr>
              <a:spcAft>
                <a:spcPts val="600"/>
              </a:spcAft>
              <a:defRPr sz="1100">
                <a:solidFill>
                  <a:srgbClr val="94A3B8"/>
                </a:solidFill>
              </a:defRPr>
            </a:pPr>
            <a:r>
              <a:t>•  Obsidian &amp; Graphite theme with electric sapphire accents.</a:t>
            </a:r>
          </a:p>
          <a:p>
            <a:pPr>
              <a:spcAft>
                <a:spcPts val="600"/>
              </a:spcAft>
              <a:defRPr sz="1100">
                <a:solidFill>
                  <a:srgbClr val="94A3B8"/>
                </a:solidFill>
              </a:defRPr>
            </a:pPr>
            <a:r>
              <a:t>•  Recharts: SVG gradient policy and trend visualization.</a:t>
            </a:r>
          </a:p>
          <a:p>
            <a:pPr>
              <a:spcAft>
                <a:spcPts val="600"/>
              </a:spcAft>
              <a:defRPr sz="1100">
                <a:solidFill>
                  <a:srgbClr val="94A3B8"/>
                </a:solidFill>
              </a:defRPr>
            </a:pPr>
            <a:r>
              <a:t>•  Web Audio API: Client-side audio decoding &amp; WAV synthesis.</a:t>
            </a:r>
          </a:p>
          <a:p>
            <a:pPr>
              <a:spcAft>
                <a:spcPts val="600"/>
              </a:spcAft>
              <a:defRPr sz="1100">
                <a:solidFill>
                  <a:srgbClr val="94A3B8"/>
                </a:solidFill>
              </a:defRPr>
            </a:pPr>
            <a:r>
              <a:t>•  Dual-Mode: Connects to localhost or runs standalone demo.</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DevOps &amp; Public Deployment</a:t>
            </a:r>
          </a:p>
          <a:p>
            <a:pPr>
              <a:spcAft>
                <a:spcPts val="600"/>
              </a:spcAft>
              <a:defRPr sz="1100">
                <a:solidFill>
                  <a:srgbClr val="94A3B8"/>
                </a:solidFill>
              </a:defRPr>
            </a:pPr>
            <a:r>
              <a:t>•  GitHub Repository: Open-source, version-controlled repository.</a:t>
            </a:r>
          </a:p>
          <a:p>
            <a:pPr>
              <a:spcAft>
                <a:spcPts val="600"/>
              </a:spcAft>
              <a:defRPr sz="1100">
                <a:solidFill>
                  <a:srgbClr val="94A3B8"/>
                </a:solidFill>
              </a:defRPr>
            </a:pPr>
            <a:r>
              <a:t>•  GitHub Actions: Automated CI/CD pipeline on every commit.</a:t>
            </a:r>
          </a:p>
          <a:p>
            <a:pPr>
              <a:spcAft>
                <a:spcPts val="600"/>
              </a:spcAft>
              <a:defRPr sz="1100">
                <a:solidFill>
                  <a:srgbClr val="94A3B8"/>
                </a:solidFill>
              </a:defRPr>
            </a:pPr>
            <a:r>
              <a:t>•  GitHub Pages: Live public HTTPS deployment online.</a:t>
            </a:r>
          </a:p>
          <a:p>
            <a:pPr>
              <a:spcAft>
                <a:spcPts val="600"/>
              </a:spcAft>
              <a:defRPr sz="1100">
                <a:solidFill>
                  <a:srgbClr val="94A3B8"/>
                </a:solidFill>
              </a:defRPr>
            </a:pPr>
            <a:r>
              <a:t>•  Zero Docker dependencies required for basic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365760"/>
          </a:xfrm>
          <a:prstGeom prst="rect">
            <a:avLst/>
          </a:prstGeom>
          <a:noFill/>
        </p:spPr>
        <p:txBody>
          <a:bodyPr wrap="square">
            <a:spAutoFit/>
          </a:bodyPr>
          <a:lstStyle/>
          <a:p>
            <a:pPr>
              <a:defRPr sz="1000" b="1">
                <a:solidFill>
                  <a:srgbClr val="6366F1"/>
                </a:solidFill>
              </a:defRPr>
            </a:pPr>
            <a:r>
              <a:t>●  SUMMARY &amp; NEXT STEPS</a:t>
            </a:r>
          </a:p>
        </p:txBody>
      </p:sp>
      <p:sp>
        <p:nvSpPr>
          <p:cNvPr id="4" name="TextBox 3"/>
          <p:cNvSpPr txBox="1"/>
          <p:nvPr/>
        </p:nvSpPr>
        <p:spPr>
          <a:xfrm>
            <a:off x="731520" y="777240"/>
            <a:ext cx="10515600" cy="685800"/>
          </a:xfrm>
          <a:prstGeom prst="rect">
            <a:avLst/>
          </a:prstGeom>
          <a:noFill/>
        </p:spPr>
        <p:txBody>
          <a:bodyPr wrap="square">
            <a:spAutoFit/>
          </a:bodyPr>
          <a:lstStyle/>
          <a:p>
            <a:pPr>
              <a:defRPr sz="2400" b="1">
                <a:solidFill>
                  <a:srgbClr val="F8FAFC"/>
                </a:solidFill>
              </a:defRPr>
            </a:pPr>
            <a:r>
              <a:t>The Future of Voice Fraud Defense</a:t>
            </a:r>
          </a:p>
        </p:txBody>
      </p:sp>
      <p:sp>
        <p:nvSpPr>
          <p:cNvPr id="5" name="TextBox 4"/>
          <p:cNvSpPr txBox="1"/>
          <p:nvPr/>
        </p:nvSpPr>
        <p:spPr>
          <a:xfrm>
            <a:off x="731520" y="1371600"/>
            <a:ext cx="10515600" cy="457200"/>
          </a:xfrm>
          <a:prstGeom prst="rect">
            <a:avLst/>
          </a:prstGeom>
          <a:noFill/>
        </p:spPr>
        <p:txBody>
          <a:bodyPr wrap="square">
            <a:spAutoFit/>
          </a:bodyPr>
          <a:lstStyle/>
          <a:p>
            <a:pPr>
              <a:defRPr sz="1200">
                <a:solidFill>
                  <a:srgbClr val="94A3B8"/>
                </a:solidFill>
              </a:defRPr>
            </a:pPr>
            <a:r>
              <a:t>VoiceShield AI sets the standard for real-time acoustic protection in digital banking.</a:t>
            </a:r>
          </a:p>
        </p:txBody>
      </p:sp>
      <p:sp>
        <p:nvSpPr>
          <p:cNvPr id="6" name="Rounded Rectangle 5"/>
          <p:cNvSpPr/>
          <p:nvPr/>
        </p:nvSpPr>
        <p:spPr>
          <a:xfrm>
            <a:off x="7315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329184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94560"/>
            <a:ext cx="2834640" cy="3794760"/>
          </a:xfrm>
          <a:prstGeom prst="rect">
            <a:avLst/>
          </a:prstGeom>
          <a:noFill/>
        </p:spPr>
        <p:txBody>
          <a:bodyPr wrap="square">
            <a:spAutoFit/>
          </a:bodyPr>
          <a:lstStyle/>
          <a:p>
            <a:pPr>
              <a:spcAft>
                <a:spcPts val="1000"/>
              </a:spcAft>
              <a:defRPr sz="1500" b="1">
                <a:solidFill>
                  <a:srgbClr val="F8FAFC"/>
                </a:solidFill>
              </a:defRPr>
            </a:pPr>
            <a:r>
              <a:t>Strategic Value Proposition</a:t>
            </a:r>
          </a:p>
          <a:p>
            <a:pPr>
              <a:spcAft>
                <a:spcPts val="600"/>
              </a:spcAft>
              <a:defRPr sz="1100">
                <a:solidFill>
                  <a:srgbClr val="94A3B8"/>
                </a:solidFill>
              </a:defRPr>
            </a:pPr>
            <a:r>
              <a:t>•  Protects institutional reputation and eliminates wire fraud losses.</a:t>
            </a:r>
          </a:p>
          <a:p>
            <a:pPr>
              <a:spcAft>
                <a:spcPts val="600"/>
              </a:spcAft>
              <a:defRPr sz="1100">
                <a:solidFill>
                  <a:srgbClr val="94A3B8"/>
                </a:solidFill>
              </a:defRPr>
            </a:pPr>
            <a:r>
              <a:t>•  Fosters client trust without adding friction to routine payments.</a:t>
            </a:r>
          </a:p>
          <a:p>
            <a:pPr>
              <a:spcAft>
                <a:spcPts val="600"/>
              </a:spcAft>
              <a:defRPr sz="1100">
                <a:solidFill>
                  <a:srgbClr val="94A3B8"/>
                </a:solidFill>
              </a:defRPr>
            </a:pPr>
            <a:r>
              <a:t>•  Certified zero-retention eliminates biometric regulatory liabilities.</a:t>
            </a:r>
          </a:p>
          <a:p>
            <a:pPr>
              <a:spcAft>
                <a:spcPts val="600"/>
              </a:spcAft>
              <a:defRPr sz="1100">
                <a:solidFill>
                  <a:srgbClr val="94A3B8"/>
                </a:solidFill>
              </a:defRPr>
            </a:pPr>
            <a:r>
              <a:t>•  Deployable on-premise, in sovereign cloud, or in hybrid SOCs.</a:t>
            </a:r>
          </a:p>
        </p:txBody>
      </p:sp>
      <p:sp>
        <p:nvSpPr>
          <p:cNvPr id="9" name="Rounded Rectangle 8"/>
          <p:cNvSpPr/>
          <p:nvPr/>
        </p:nvSpPr>
        <p:spPr>
          <a:xfrm>
            <a:off x="43891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011680"/>
            <a:ext cx="32918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94560"/>
            <a:ext cx="2834640" cy="3794760"/>
          </a:xfrm>
          <a:prstGeom prst="rect">
            <a:avLst/>
          </a:prstGeom>
          <a:noFill/>
        </p:spPr>
        <p:txBody>
          <a:bodyPr wrap="square">
            <a:spAutoFit/>
          </a:bodyPr>
          <a:lstStyle/>
          <a:p>
            <a:pPr>
              <a:spcAft>
                <a:spcPts val="1000"/>
              </a:spcAft>
              <a:defRPr sz="1500" b="1">
                <a:solidFill>
                  <a:srgbClr val="F8FAFC"/>
                </a:solidFill>
              </a:defRPr>
            </a:pPr>
            <a:r>
              <a:t>Engineering Roadmap</a:t>
            </a:r>
          </a:p>
          <a:p>
            <a:pPr>
              <a:spcAft>
                <a:spcPts val="600"/>
              </a:spcAft>
              <a:defRPr sz="1100">
                <a:solidFill>
                  <a:srgbClr val="94A3B8"/>
                </a:solidFill>
              </a:defRPr>
            </a:pPr>
            <a:r>
              <a:t>•  Phase 1: Telephony SIP/RTP streaming integration for IVR call centers.</a:t>
            </a:r>
          </a:p>
          <a:p>
            <a:pPr>
              <a:spcAft>
                <a:spcPts val="600"/>
              </a:spcAft>
              <a:defRPr sz="1100">
                <a:solidFill>
                  <a:srgbClr val="94A3B8"/>
                </a:solidFill>
              </a:defRPr>
            </a:pPr>
            <a:r>
              <a:t>•  Phase 2: Mobile SDK for native iOS and Android banking applications.</a:t>
            </a:r>
          </a:p>
          <a:p>
            <a:pPr>
              <a:spcAft>
                <a:spcPts val="600"/>
              </a:spcAft>
              <a:defRPr sz="1100">
                <a:solidFill>
                  <a:srgbClr val="94A3B8"/>
                </a:solidFill>
              </a:defRPr>
            </a:pPr>
            <a:r>
              <a:t>•  Phase 3: Continuous retraining loop against newly published neural vocoders.</a:t>
            </a:r>
          </a:p>
          <a:p>
            <a:pPr>
              <a:spcAft>
                <a:spcPts val="600"/>
              </a:spcAft>
              <a:defRPr sz="1100">
                <a:solidFill>
                  <a:srgbClr val="94A3B8"/>
                </a:solidFill>
              </a:defRPr>
            </a:pPr>
            <a:r>
              <a:t>•  Phase 4: Multi-modal fusion with facial deepfake and biometric telemetry.</a:t>
            </a:r>
          </a:p>
        </p:txBody>
      </p:sp>
      <p:sp>
        <p:nvSpPr>
          <p:cNvPr id="12" name="Rounded Rectangle 11"/>
          <p:cNvSpPr/>
          <p:nvPr/>
        </p:nvSpPr>
        <p:spPr>
          <a:xfrm>
            <a:off x="8046720" y="2011680"/>
            <a:ext cx="3291840" cy="4114800"/>
          </a:xfrm>
          <a:prstGeom prst="roundRect">
            <a:avLst/>
          </a:prstGeom>
          <a:solidFill>
            <a:srgbClr val="0E121C"/>
          </a:solidFill>
          <a:ln w="12700">
            <a:solidFill>
              <a:srgbClr val="232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9184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194560"/>
            <a:ext cx="2834640" cy="3794760"/>
          </a:xfrm>
          <a:prstGeom prst="rect">
            <a:avLst/>
          </a:prstGeom>
          <a:noFill/>
        </p:spPr>
        <p:txBody>
          <a:bodyPr wrap="square">
            <a:spAutoFit/>
          </a:bodyPr>
          <a:lstStyle/>
          <a:p>
            <a:pPr>
              <a:spcAft>
                <a:spcPts val="1000"/>
              </a:spcAft>
              <a:defRPr sz="1500" b="1">
                <a:solidFill>
                  <a:srgbClr val="F8FAFC"/>
                </a:solidFill>
              </a:defRPr>
            </a:pPr>
            <a:r>
              <a:t>Live Links &amp; Resources</a:t>
            </a:r>
          </a:p>
          <a:p>
            <a:pPr>
              <a:spcAft>
                <a:spcPts val="600"/>
              </a:spcAft>
              <a:defRPr sz="1100">
                <a:solidFill>
                  <a:srgbClr val="94A3B8"/>
                </a:solidFill>
              </a:defRPr>
            </a:pPr>
            <a:r>
              <a:t>•  GitHub Repository: github.com/uditdev0523/voice-shield-ai</a:t>
            </a:r>
          </a:p>
          <a:p>
            <a:pPr>
              <a:spcAft>
                <a:spcPts val="600"/>
              </a:spcAft>
              <a:defRPr sz="1100">
                <a:solidFill>
                  <a:srgbClr val="94A3B8"/>
                </a:solidFill>
              </a:defRPr>
            </a:pPr>
            <a:r>
              <a:t>•  Live Public HTTPS Site: uditdev0523.github.io/voice-shield-ai/</a:t>
            </a:r>
          </a:p>
          <a:p>
            <a:pPr>
              <a:spcAft>
                <a:spcPts val="600"/>
              </a:spcAft>
              <a:defRPr sz="1100">
                <a:solidFill>
                  <a:srgbClr val="94A3B8"/>
                </a:solidFill>
              </a:defRPr>
            </a:pPr>
            <a:r>
              <a:t>•  Local API Documentation: http://127.0.0.1:8000/docs</a:t>
            </a:r>
          </a:p>
          <a:p>
            <a:pPr>
              <a:spcAft>
                <a:spcPts val="600"/>
              </a:spcAft>
              <a:defRPr sz="1100">
                <a:solidFill>
                  <a:srgbClr val="94A3B8"/>
                </a:solidFill>
              </a:defRPr>
            </a:pPr>
            <a:r>
              <a:t>•  Contact: Udit Dev (VoiceShield AI Engineering Lead)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